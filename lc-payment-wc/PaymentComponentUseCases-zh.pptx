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652F52-85CA-4B05-B4E7-E00F1EA63B1F}">
  <a:tblStyle styleId="{62652F52-85CA-4B05-B4E7-E00F1EA63B1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4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E2761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-1645920" y="4480560"/>
            <a:ext cx="3840480" cy="3840480"/>
          </a:xfrm>
          <a:prstGeom prst="ellipse">
            <a:avLst/>
          </a:prstGeom>
          <a:solidFill>
            <a:srgbClr val="1E276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48640" y="2286000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icrosoft JhengHe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Payment Component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3063240"/>
            <a:ext cx="1109441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Microsoft JhengHei"/>
              <a:buNone/>
            </a:pPr>
            <a:r>
              <a:rPr b="0" i="0" lang="en-US" sz="2200" u="none" cap="none" strike="noStrike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提案業務用例簡報（中文版）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365760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4DA"/>
              </a:buClr>
              <a:buSzPts val="1400"/>
              <a:buFont typeface="Microsoft JhengHei"/>
              <a:buNone/>
            </a:pPr>
            <a:r>
              <a:rPr b="0" i="0" lang="en-US" sz="1400" u="none" cap="none" strike="noStrike">
                <a:solidFill>
                  <a:srgbClr val="9FB4D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進出口信用狀 · 手續費／保證金／押匯負債（EBL）橋接情境 — 供業務與架構審閱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5806440"/>
            <a:ext cx="3931920" cy="365760"/>
          </a:xfrm>
          <a:prstGeom prst="roundRect">
            <a:avLst>
              <a:gd fmla="val 20000" name="adj"/>
            </a:avLst>
          </a:prstGeom>
          <a:solidFill>
            <a:srgbClr val="FFFFFF">
              <a:alpha val="7843"/>
            </a:srgbClr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685800" y="58064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Microsoft JhengHei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狀態：草稿·供審閱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48640" y="63093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3BE"/>
              </a:buClr>
              <a:buSzPts val="1000"/>
              <a:buFont typeface="Microsoft JhengHei"/>
              <a:buNone/>
            </a:pPr>
            <a:r>
              <a:rPr b="0" i="0" lang="en-US" sz="1000" u="none" cap="none" strike="noStrike">
                <a:solidFill>
                  <a:srgbClr val="7F93B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lc-payment-wc/microservices/payment-component · 2026-08-17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Microsoft JhengHe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目的與範圍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500"/>
              <a:buFont typeface="Microsoft JhengHei"/>
              <a:buNone/>
            </a:pPr>
            <a:r>
              <a:rPr b="0" i="0" lang="en-US" sz="15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五個主要用例，貫穿進出口 LC 生命周期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48640" y="1783080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548640" y="17830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icrosoft JhengHe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115568" y="1764792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Microsoft JhengHe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進口 LC 開狀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394960" y="1764792"/>
            <a:ext cx="6035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Microsoft JhengHei"/>
              <a:buNone/>
            </a:pPr>
            <a:r>
              <a:rPr b="0" i="0" lang="en-US" sz="12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向申請人往來帳（CA）收取手續費與保證金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48640" y="2313432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548640" y="23134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icrosoft JhengHe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115568" y="2295144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Microsoft JhengHe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進口 LC 即期／遠期結算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394960" y="2295144"/>
            <a:ext cx="6035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Microsoft JhengHei"/>
              <a:buNone/>
            </a:pPr>
            <a:r>
              <a:rPr b="0" i="0" lang="en-US" sz="12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由客戶結匯，並付款至 Nostro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48640" y="2843784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548640" y="284378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icrosoft JhengHe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115568" y="2825496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Microsoft JhengHe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出口 LC 即期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394960" y="2825496"/>
            <a:ext cx="6035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Microsoft JhengHei"/>
              <a:buNone/>
            </a:pPr>
            <a:r>
              <a:rPr b="0" i="0" lang="en-US" sz="12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由 Nostro 取得款項，付款予客戶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48640" y="3374136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548640" y="33741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icrosoft JhengHe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115568" y="3355848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Microsoft JhengHe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出口 LC 遠期押匯（Negotiation）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394960" y="3355848"/>
            <a:ext cx="6035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Microsoft JhengHei"/>
              <a:buNone/>
            </a:pPr>
            <a:r>
              <a:rPr b="0" i="0" lang="en-US" sz="12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產生 EBL 曝險，付款予客戶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48640" y="390448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548640" y="39044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icrosoft JhengHe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115568" y="388620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Microsoft JhengHe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出口 LC 遠期 EBL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394960" y="3886200"/>
            <a:ext cx="6035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Microsoft JhengHei"/>
              <a:buNone/>
            </a:pPr>
            <a:r>
              <a:rPr b="0" i="0" lang="en-US" sz="12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到期日由 Nostro 取得款項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48640" y="4572000"/>
            <a:ext cx="11094415" cy="777240"/>
          </a:xfrm>
          <a:prstGeom prst="roundRect">
            <a:avLst>
              <a:gd fmla="val 9412" name="adj"/>
            </a:avLst>
          </a:prstGeom>
          <a:solidFill>
            <a:srgbClr val="F3F6FC"/>
          </a:solidFill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777240" y="4690872"/>
            <a:ext cx="106372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Microsoft JhengHei"/>
              <a:buNone/>
            </a:pPr>
            <a:r>
              <a:rPr b="0" i="0" lang="en-US" sz="11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手續費／保證金與 EBL 曝險，均透過 </a:t>
            </a:r>
            <a:r>
              <a:rPr b="1" i="0" lang="en-US" sz="115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suspenseBridge</a:t>
            </a:r>
            <a:r>
              <a:rPr b="0" i="0" lang="en-US" sz="11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橋接進來，而非由 Payment Component 自行計算或過帳。兩個用例（二、四／五）延伸自微服務 README 已記載但尚未登錄的「IBL/EBL Takedown／Repayment」擴充情境。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Payment Component — 提案業務用例（中文版）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Microsoft JhengHe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如何閱讀本簡報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500"/>
              <a:buFont typeface="Microsoft JhengHei"/>
              <a:buNone/>
            </a:pPr>
            <a:r>
              <a:rPr b="0" i="0" lang="en-US" sz="15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四個閱讀關鍵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48640" y="1709928"/>
            <a:ext cx="457200" cy="457200"/>
          </a:xfrm>
          <a:prstGeom prst="ellipse">
            <a:avLst/>
          </a:prstGeom>
          <a:solidFill>
            <a:srgbClr val="C99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548640" y="17099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1207008" y="1664208"/>
            <a:ext cx="1043604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Microsoft JhengHe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既有（金色）與新增（深紅）標記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207008" y="2020824"/>
            <a:ext cx="10436047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Microsoft JhengHei"/>
              <a:buNone/>
            </a:pPr>
            <a:r>
              <a:rPr b="0" i="0" lang="en-US" sz="12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「既有」= 已有登錄案例與憑證代碼前綴；「新增」= 尚待確認前綴與登錄，每片卡右上方標籤會標示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48640" y="267004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548640" y="2670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📊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207008" y="2624328"/>
            <a:ext cx="1043604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Microsoft JhengHe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會計流程圖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1207008" y="2980944"/>
            <a:ext cx="10436047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Microsoft JhengHei"/>
              <a:buNone/>
            </a:pPr>
            <a:r>
              <a:rPr b="0" i="0" lang="en-US" sz="12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同時呈現 Charge/Balance Component 與 Payment Component 各自的帳，即使本服務只過帳自己那一腳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48640" y="3630168"/>
            <a:ext cx="457200" cy="457200"/>
          </a:xfrm>
          <a:prstGeom prst="ellipse">
            <a:avLst/>
          </a:prstGeom>
          <a:solidFill>
            <a:srgbClr val="5B70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48640" y="36301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1207008" y="3584448"/>
            <a:ext cx="1043604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Microsoft JhengHe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suspenseBridge：debitEntries 與 creditEntries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207008" y="3941064"/>
            <a:ext cx="10436047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Microsoft JhengHei"/>
              <a:buNone/>
            </a:pPr>
            <a:r>
              <a:rPr b="0" i="0" lang="en-US" sz="12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兩者皆產生「貸方」分錄；依欲勾稽的實際分錄選邊 — 借方用 debitEntries、貸方用 creditEntries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548640" y="4590288"/>
            <a:ext cx="457200" cy="457200"/>
          </a:xfrm>
          <a:prstGeom prst="ellipse">
            <a:avLst/>
          </a:prstGeom>
          <a:solidFill>
            <a:srgbClr val="AD3B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548640" y="45902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=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1207008" y="4544568"/>
            <a:ext cx="1043604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Microsoft JhengHe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配平原則（匯總 V8）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1207008" y="4901184"/>
            <a:ext cx="10436047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Microsoft JhengHei"/>
              <a:buNone/>
            </a:pPr>
            <a:r>
              <a:rPr b="0" i="0" lang="en-US" sz="12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只檢查 Σ debitLegs.amountTxCcy = Σ creditLegs.amountTxCcy（含橋接分錄），本簡報所有範例均已驗證配平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Payment Component — 提案業務用例（中文版）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Microsoft JhengHe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用例一：進口 LC 開狀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500"/>
              <a:buFont typeface="Microsoft JhengHei"/>
              <a:buNone/>
            </a:pPr>
            <a:r>
              <a:rPr b="0" i="0" lang="en-US" sz="15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向 CA 收取手續費與保證金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48640" y="1298448"/>
            <a:ext cx="4754880" cy="329184"/>
          </a:xfrm>
          <a:prstGeom prst="roundRect">
            <a:avLst>
              <a:gd fmla="val 22222" name="adj"/>
            </a:avLst>
          </a:prstGeom>
          <a:solidFill>
            <a:srgbClr val="AD3B2C">
              <a:alpha val="12157"/>
            </a:srgbClr>
          </a:solidFill>
          <a:ln cap="flat" cmpd="sng" w="12700">
            <a:solidFill>
              <a:srgbClr val="AD3B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658368" y="1298448"/>
            <a:ext cx="45354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3B2C"/>
              </a:buClr>
              <a:buSzPts val="1100"/>
              <a:buFont typeface="Microsoft JhengHei"/>
              <a:buNone/>
            </a:pPr>
            <a:r>
              <a:rPr b="1" i="0" lang="en-US" sz="1100" u="none" cap="none" strike="noStrike">
                <a:solidFill>
                  <a:srgbClr val="AD3B2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IPLC ／ 新增 sourceFunctionCode: Issue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548640" y="1810512"/>
            <a:ext cx="470916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Microsoft JhengHei"/>
              <a:buChar char="▪"/>
            </a:pPr>
            <a:r>
              <a:rPr b="0" i="0" lang="en-US" sz="13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申請人（買方）申請開狀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80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Microsoft JhengHei"/>
              <a:buChar char="▪"/>
            </a:pPr>
            <a:r>
              <a:rPr b="0" i="0" lang="en-US" sz="13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銀行以一筆借記，向 CA 收取：開狀手續費、現金保證金／擔保品、SWIFT／快遞雜費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80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Microsoft JhengHei"/>
              <a:buChar char="▪"/>
            </a:pPr>
            <a:r>
              <a:rPr b="0" i="0" lang="en-US" sz="13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各項金額由 Charge Component 計算與歸屬；Payment Component 僅移轉匯總總額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80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Microsoft JhengHei"/>
              <a:buChar char="▪"/>
            </a:pPr>
            <a:r>
              <a:rPr b="0" i="0" lang="en-US" sz="13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型態：純手續費收取（creditLegs 留空）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548640" y="5349240"/>
            <a:ext cx="2377440" cy="960120"/>
          </a:xfrm>
          <a:prstGeom prst="roundRect">
            <a:avLst>
              <a:gd fmla="val 9524" name="adj"/>
            </a:avLst>
          </a:prstGeom>
          <a:solidFill>
            <a:srgbClr val="1E2761"/>
          </a:solidFill>
          <a:ln>
            <a:noFill/>
          </a:ln>
          <a:effectLst>
            <a:outerShdw blurRad="76200" rotWithShape="0" algn="bl" dir="5400000" dist="25400">
              <a:srgbClr val="1B1F3B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548640" y="545896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icrosoft JhengHe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USD 5,245.00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548640" y="594360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本次收取總額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3154680" y="5349240"/>
            <a:ext cx="2103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50"/>
              <a:buFont typeface="Microsoft JhengHei"/>
              <a:buNone/>
            </a:pPr>
            <a:r>
              <a:rPr b="0" i="1" lang="en-US" sz="105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待確認：3 項（保證金歸屬、憑證前綴、修改書處理）— 詳見彙整頁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577840" y="1737360"/>
            <a:ext cx="6065215" cy="1778508"/>
          </a:xfrm>
          <a:prstGeom prst="roundRect">
            <a:avLst>
              <a:gd fmla="val 4113" name="adj"/>
            </a:avLst>
          </a:prstGeom>
          <a:solidFill>
            <a:srgbClr val="F3F6FC"/>
          </a:solidFill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5742432" y="1828800"/>
            <a:ext cx="256032" cy="256032"/>
          </a:xfrm>
          <a:prstGeom prst="ellipse">
            <a:avLst/>
          </a:prstGeom>
          <a:solidFill>
            <a:srgbClr val="C99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5742432" y="182880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icrosoft JhengHe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6089904" y="1810512"/>
            <a:ext cx="54251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Microsoft JhengHe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Charge Component（自身帳務）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5760720" y="2212848"/>
            <a:ext cx="5699455" cy="1211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Dr  Suspense - Credit          5,245.00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    Cr 手續費                    200.00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    Cr 保證金（現金擔保品）  5,000.00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    Cr 快遞／SWIFT 費用             30.00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    Cr 郵電費                       15.00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 rot="10800000">
            <a:off x="8528152" y="3543300"/>
            <a:ext cx="164592" cy="146304"/>
          </a:xfrm>
          <a:prstGeom prst="triangle">
            <a:avLst>
              <a:gd fmla="val 50000" name="adj"/>
            </a:avLst>
          </a:prstGeom>
          <a:solidFill>
            <a:srgbClr val="5B70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5577840" y="3735324"/>
            <a:ext cx="6065215" cy="1106424"/>
          </a:xfrm>
          <a:prstGeom prst="roundRect">
            <a:avLst>
              <a:gd fmla="val 6612" name="adj"/>
            </a:avLst>
          </a:prstGeom>
          <a:solidFill>
            <a:srgbClr val="F3F6FC"/>
          </a:solidFill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5742432" y="3826764"/>
            <a:ext cx="256032" cy="25603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5742432" y="382676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icrosoft JhengHe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6089904" y="3808476"/>
            <a:ext cx="54251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Microsoft JhengHe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Payment Component（本服務）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5760720" y="4210812"/>
            <a:ext cx="5699455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Dr  客戶帳戶 A/C (CUST-ACC)  5,245.00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9A2E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99A2E"/>
                </a:solidFill>
                <a:latin typeface="Courier New"/>
                <a:ea typeface="Courier New"/>
                <a:cs typeface="Courier New"/>
                <a:sym typeface="Courier New"/>
              </a:rPr>
              <a:t>    Cr Suspense - Credit    5,245.00 ←橋接產生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Payment Component — 提案業務用例（中文版）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Microsoft JhengHe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用例一 子用例：多筆 Dr CA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500"/>
              <a:buFont typeface="Microsoft JhengHei"/>
              <a:buNone/>
            </a:pPr>
            <a:r>
              <a:rPr b="0" i="0" lang="en-US" sz="15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保證金與手續費分別由不同帳戶借記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48640" y="1600200"/>
            <a:ext cx="5364328" cy="4434840"/>
          </a:xfrm>
          <a:prstGeom prst="roundRect">
            <a:avLst>
              <a:gd fmla="val 2062" name="adj"/>
            </a:avLst>
          </a:prstGeom>
          <a:solidFill>
            <a:srgbClr val="F3F6FC"/>
          </a:solidFill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777240" y="1828800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777240" y="18288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icrosoft JhengHe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1298448" y="1801368"/>
            <a:ext cx="4431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Microsoft JhengHe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多筆 Dr CA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822960" y="2377440"/>
            <a:ext cx="481568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Microsoft JhengHei"/>
              <a:buChar char="▪"/>
            </a:pPr>
            <a:r>
              <a:rPr b="0" i="0" lang="en-US" sz="120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保證金與手續費分別由不同客戶帳戶借記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Microsoft JhengHei"/>
              <a:buChar char="▪"/>
            </a:pPr>
            <a:r>
              <a:rPr b="0" i="0" lang="en-US" sz="120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不需新增伺服器能力，debitLegs 陣列本來就支援多筆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Microsoft JhengHei"/>
              <a:buChar char="▪"/>
            </a:pPr>
            <a:r>
              <a:rPr b="0" i="0" lang="en-US" sz="120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直接回答用例一「保證金是否與手續費共用一筆借記」的待確認事項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822960" y="4114800"/>
            <a:ext cx="4815688" cy="9144"/>
          </a:xfrm>
          <a:prstGeom prst="rect">
            <a:avLst/>
          </a:prstGeom>
          <a:noFill/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822960" y="4251960"/>
            <a:ext cx="4815688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CUST-ACC          USD    245.00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  手續費＋快遞費＋郵電費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CUST-MARGIN-ACC   USD  5,000.00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  僅現金保證金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278728" y="1600200"/>
            <a:ext cx="5364328" cy="4434840"/>
          </a:xfrm>
          <a:prstGeom prst="roundRect">
            <a:avLst>
              <a:gd fmla="val 2062" name="adj"/>
            </a:avLst>
          </a:prstGeom>
          <a:solidFill>
            <a:srgbClr val="F3F6FC"/>
          </a:solidFill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6507328" y="1828800"/>
            <a:ext cx="384048" cy="384048"/>
          </a:xfrm>
          <a:prstGeom prst="ellipse">
            <a:avLst/>
          </a:prstGeom>
          <a:solidFill>
            <a:srgbClr val="C99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6507328" y="18288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icrosoft JhengHe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7028536" y="1801368"/>
            <a:ext cx="4431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Microsoft JhengHe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多筆 Dr CA、多幣別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6553048" y="2377440"/>
            <a:ext cx="481568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Microsoft JhengHei"/>
              <a:buChar char="▪"/>
            </a:pPr>
            <a:r>
              <a:rPr b="0" i="0" lang="en-US" sz="120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與 1a 相同拆分，保證金帳戶改為 EUR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Microsoft JhengHei"/>
              <a:buChar char="▪"/>
            </a:pPr>
            <a:r>
              <a:rPr b="0" i="0" lang="en-US" sz="120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使用既有 amountAccountCcy／drRate 欄位，非 suspenseBridge FX 機制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Microsoft JhengHei"/>
              <a:buChar char="▪"/>
            </a:pPr>
            <a:r>
              <a:rPr b="0" i="0" lang="en-US" sz="120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V8 配平只看 amountTxCcy，因此配平方式與同幣別版完全相同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553048" y="4114800"/>
            <a:ext cx="4815688" cy="9144"/>
          </a:xfrm>
          <a:prstGeom prst="rect">
            <a:avLst/>
          </a:prstGeom>
          <a:noFill/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6553048" y="4251960"/>
            <a:ext cx="4815688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CUST-ACC          USD    245.00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CUST-EUR-ACC      EUR  4,616.48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  （= USD 5,000.00 等值 @0.923295）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Payment Component — 提案業務用例（中文版）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Microsoft JhengHe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用例二A：進口 LC 即期結算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500"/>
              <a:buFont typeface="Microsoft JhengHei"/>
              <a:buNone/>
            </a:pPr>
            <a:r>
              <a:rPr b="0" i="0" lang="en-US" sz="15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客戶結匯，付款至 Nostro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548640" y="1298448"/>
            <a:ext cx="4937760" cy="329184"/>
          </a:xfrm>
          <a:prstGeom prst="roundRect">
            <a:avLst>
              <a:gd fmla="val 22222" name="adj"/>
            </a:avLst>
          </a:prstGeom>
          <a:solidFill>
            <a:srgbClr val="C99A2E">
              <a:alpha val="12157"/>
            </a:srgbClr>
          </a:solidFill>
          <a:ln cap="flat" cmpd="sng" w="12700">
            <a:solidFill>
              <a:srgbClr val="C99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658368" y="1298448"/>
            <a:ext cx="47183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A2E"/>
              </a:buClr>
              <a:buSzPts val="1100"/>
              <a:buFont typeface="Microsoft JhengHei"/>
              <a:buNone/>
            </a:pPr>
            <a:r>
              <a:rPr b="1" i="0" lang="en-US" sz="1100" u="none" cap="none" strike="noStrike">
                <a:solidFill>
                  <a:srgbClr val="C99A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IPLC ／ 既有 sourceFunctionCode: PayAccept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548640" y="1810512"/>
            <a:ext cx="470916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Microsoft JhengHei"/>
              <a:buChar char="▪"/>
            </a:pPr>
            <a:r>
              <a:rPr b="0" i="0" lang="en-US" sz="13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單據於即期 LC 下符合條款送達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80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Microsoft JhengHei"/>
              <a:buChar char="▪"/>
            </a:pPr>
            <a:r>
              <a:rPr b="0" i="0" lang="en-US" sz="13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客戶立即結匯；銀行同一起息日透過 Nostro 匯付押匯銀行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80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Microsoft JhengHei"/>
              <a:buChar char="▪"/>
            </a:pPr>
            <a:r>
              <a:rPr b="0" i="0" lang="en-US" sz="13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同時收取快遞／SWIFT 電報費，計入 Debit Suspense 橋接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80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Microsoft JhengHei"/>
              <a:buChar char="▪"/>
            </a:pPr>
            <a:r>
              <a:rPr b="0" i="0" lang="en-US" sz="13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對應既有登錄案例 iplc-pay-accept，此處延伸手續費橋接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548640" y="5349240"/>
            <a:ext cx="2377440" cy="960120"/>
          </a:xfrm>
          <a:prstGeom prst="roundRect">
            <a:avLst>
              <a:gd fmla="val 9524" name="adj"/>
            </a:avLst>
          </a:prstGeom>
          <a:solidFill>
            <a:srgbClr val="1E2761"/>
          </a:solidFill>
          <a:ln>
            <a:noFill/>
          </a:ln>
          <a:effectLst>
            <a:outerShdw blurRad="76200" rotWithShape="0" algn="bl" dir="5400000" dist="25400">
              <a:srgbClr val="1B1F3B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548640" y="545896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icrosoft JhengHe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USD 48,040.00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548640" y="594360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結算總額（含手續費）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5577840" y="1737360"/>
            <a:ext cx="6065215" cy="1106424"/>
          </a:xfrm>
          <a:prstGeom prst="roundRect">
            <a:avLst>
              <a:gd fmla="val 6612" name="adj"/>
            </a:avLst>
          </a:prstGeom>
          <a:solidFill>
            <a:srgbClr val="F3F6FC"/>
          </a:solidFill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5742432" y="1828800"/>
            <a:ext cx="256032" cy="256032"/>
          </a:xfrm>
          <a:prstGeom prst="ellipse">
            <a:avLst/>
          </a:prstGeom>
          <a:solidFill>
            <a:srgbClr val="C99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5742432" y="182880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icrosoft JhengHe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6089904" y="1810512"/>
            <a:ext cx="54251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Microsoft JhengHe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Charge Component（自身帳務）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760720" y="2212848"/>
            <a:ext cx="5699455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Dr  Suspense - Debit          40.00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    Cr 快遞／SWIFT 費用          40.00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 rot="10800000">
            <a:off x="8528152" y="2871216"/>
            <a:ext cx="164592" cy="146304"/>
          </a:xfrm>
          <a:prstGeom prst="triangle">
            <a:avLst>
              <a:gd fmla="val 50000" name="adj"/>
            </a:avLst>
          </a:prstGeom>
          <a:solidFill>
            <a:srgbClr val="5B70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5577840" y="3063240"/>
            <a:ext cx="6065215" cy="1330452"/>
          </a:xfrm>
          <a:prstGeom prst="roundRect">
            <a:avLst>
              <a:gd fmla="val 5498" name="adj"/>
            </a:avLst>
          </a:prstGeom>
          <a:solidFill>
            <a:srgbClr val="F3F6FC"/>
          </a:solidFill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5742432" y="3154680"/>
            <a:ext cx="256032" cy="25603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5742432" y="31546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icrosoft JhengHe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6089904" y="3136392"/>
            <a:ext cx="54251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Microsoft JhengHe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Payment Component（本服務）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5760720" y="3538728"/>
            <a:ext cx="5699455" cy="763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Dr  客戶帳戶 A/C          48,040.00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    Cr Nostro                48,000.00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9A2E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99A2E"/>
                </a:solidFill>
                <a:latin typeface="Courier New"/>
                <a:ea typeface="Courier New"/>
                <a:cs typeface="Courier New"/>
                <a:sym typeface="Courier New"/>
              </a:rPr>
              <a:t>    Cr Suspense - Debit          40.00 ←橋接產生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Payment Component — 提案業務用例（中文版）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Microsoft JhengHe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用例二A 子用例：多筆 Dr CA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500"/>
              <a:buFont typeface="Microsoft JhengHei"/>
              <a:buNone/>
            </a:pPr>
            <a:r>
              <a:rPr b="0" i="0" lang="en-US" sz="15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結算款項由兩個客戶帳戶共同支應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548640" y="1600200"/>
            <a:ext cx="5364328" cy="4434840"/>
          </a:xfrm>
          <a:prstGeom prst="roundRect">
            <a:avLst>
              <a:gd fmla="val 2062" name="adj"/>
            </a:avLst>
          </a:prstGeom>
          <a:solidFill>
            <a:srgbClr val="F3F6FC"/>
          </a:solidFill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777240" y="1828800"/>
            <a:ext cx="658368" cy="384048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777240" y="1828800"/>
            <a:ext cx="6583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icrosoft JhengHe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2A-1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1572768" y="1801368"/>
            <a:ext cx="4157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Microsoft JhengHe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多筆 Dr CA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822960" y="2377440"/>
            <a:ext cx="481568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Microsoft JhengHei"/>
              <a:buChar char="▪"/>
            </a:pPr>
            <a:r>
              <a:rPr b="0" i="0" lang="en-US" sz="120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往來活期帳戶餘額不足，差額由連結的通知存款帳戶支付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Microsoft JhengHei"/>
              <a:buChar char="▪"/>
            </a:pPr>
            <a:r>
              <a:rPr b="0" i="0" lang="en-US" sz="120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同一 debitLegs 陣列中兩筆 CUSTOMER 分錄，幣別相同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822960" y="4114800"/>
            <a:ext cx="4815688" cy="9144"/>
          </a:xfrm>
          <a:prstGeom prst="rect">
            <a:avLst/>
          </a:prstGeom>
          <a:noFill/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822960" y="4251960"/>
            <a:ext cx="4815688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CUST-ACC          USD 30,000.00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CUST-DEP-ACC      USD 18,040.00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6278728" y="1600200"/>
            <a:ext cx="5364328" cy="4434840"/>
          </a:xfrm>
          <a:prstGeom prst="roundRect">
            <a:avLst>
              <a:gd fmla="val 2062" name="adj"/>
            </a:avLst>
          </a:prstGeom>
          <a:solidFill>
            <a:srgbClr val="F3F6FC"/>
          </a:solidFill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6507328" y="1828800"/>
            <a:ext cx="658368" cy="384048"/>
          </a:xfrm>
          <a:prstGeom prst="roundRect">
            <a:avLst>
              <a:gd fmla="val 50000" name="adj"/>
            </a:avLst>
          </a:prstGeom>
          <a:solidFill>
            <a:srgbClr val="C99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6507328" y="1828800"/>
            <a:ext cx="6583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icrosoft JhengHe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2A-2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7302856" y="1801368"/>
            <a:ext cx="4157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Microsoft JhengHe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多筆 Dr CA、多幣別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6553048" y="2377440"/>
            <a:ext cx="481568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Microsoft JhengHei"/>
              <a:buChar char="▪"/>
            </a:pPr>
            <a:r>
              <a:rPr b="0" i="0" lang="en-US" sz="120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與 2A-1 相同的差額支應邏輯，但連結帳戶改為 EUR 計價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6553048" y="4114800"/>
            <a:ext cx="4815688" cy="9144"/>
          </a:xfrm>
          <a:prstGeom prst="rect">
            <a:avLst/>
          </a:prstGeom>
          <a:noFill/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6553048" y="4251960"/>
            <a:ext cx="4815688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CUST-ACC          USD 30,000.00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CUST-EUR-ACC      EUR 16,656.24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  （= USD 18,040.00 等值 @0.923295）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Payment Component — 提案業務用例（中文版）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Microsoft JhengHe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用例二B 步驟一：承兌／押匯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500"/>
              <a:buFont typeface="Microsoft JhengHei"/>
              <a:buNone/>
            </a:pPr>
            <a:r>
              <a:rPr b="0" i="0" lang="en-US" sz="15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IBL Takedown（動撥）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548640" y="1298448"/>
            <a:ext cx="4846320" cy="329184"/>
          </a:xfrm>
          <a:prstGeom prst="roundRect">
            <a:avLst>
              <a:gd fmla="val 22222" name="adj"/>
            </a:avLst>
          </a:prstGeom>
          <a:solidFill>
            <a:srgbClr val="AD3B2C">
              <a:alpha val="12157"/>
            </a:srgbClr>
          </a:solidFill>
          <a:ln cap="flat" cmpd="sng" w="12700">
            <a:solidFill>
              <a:srgbClr val="AD3B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658368" y="1298448"/>
            <a:ext cx="46268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3B2C"/>
              </a:buClr>
              <a:buSzPts val="1100"/>
              <a:buFont typeface="Microsoft JhengHei"/>
              <a:buNone/>
            </a:pPr>
            <a:r>
              <a:rPr b="1" i="0" lang="en-US" sz="1100" u="none" cap="none" strike="noStrike">
                <a:solidFill>
                  <a:srgbClr val="AD3B2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IPLC ／ 新增 sourceFunctionCode: Acceptance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548640" y="1810512"/>
            <a:ext cx="470916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Microsoft JhengHei"/>
              <a:buChar char="▪"/>
            </a:pPr>
            <a:r>
              <a:rPr b="0" i="0" lang="en-US" sz="13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遠期進口匯票：銀行先付款給押匯銀行，客戶尚未結匯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80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Microsoft JhengHei"/>
              <a:buChar char="▪"/>
            </a:pPr>
            <a:r>
              <a:rPr b="0" i="0" lang="en-US" sz="13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Balance Component 記錄 IBL（進口押匯負債）曝險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80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Microsoft JhengHei"/>
              <a:buChar char="▪"/>
            </a:pPr>
            <a:r>
              <a:rPr b="0" i="0" lang="en-US" sz="13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Payment Component 過帳真實 SUSPENSE 分錄（非橋接），對應 Balance Component 的 Cr Suspense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80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Microsoft JhengHei"/>
              <a:buChar char="▪"/>
            </a:pPr>
            <a:r>
              <a:rPr b="0" i="0" lang="en-US" sz="13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兩階段流程的第一次 Payment Component 呼叫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5577840" y="1737360"/>
            <a:ext cx="6065215" cy="1106424"/>
          </a:xfrm>
          <a:prstGeom prst="roundRect">
            <a:avLst>
              <a:gd fmla="val 6612" name="adj"/>
            </a:avLst>
          </a:prstGeom>
          <a:solidFill>
            <a:srgbClr val="F3F6FC"/>
          </a:solidFill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5742432" y="1828800"/>
            <a:ext cx="256032" cy="256032"/>
          </a:xfrm>
          <a:prstGeom prst="ellipse">
            <a:avLst/>
          </a:prstGeom>
          <a:solidFill>
            <a:srgbClr val="5B70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5742432" y="182880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icrosoft JhengHe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6089904" y="1810512"/>
            <a:ext cx="54251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Microsoft JhengHe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Balance Component（自身帳務）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5760720" y="2212848"/>
            <a:ext cx="5699455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Dr  IBL（或有負債）          48,000.00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    Cr Suspense               48,000.00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 rot="10800000">
            <a:off x="8528152" y="2871216"/>
            <a:ext cx="164592" cy="146304"/>
          </a:xfrm>
          <a:prstGeom prst="triangle">
            <a:avLst>
              <a:gd fmla="val 50000" name="adj"/>
            </a:avLst>
          </a:prstGeom>
          <a:solidFill>
            <a:srgbClr val="5B70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5577840" y="3063240"/>
            <a:ext cx="6065215" cy="1106424"/>
          </a:xfrm>
          <a:prstGeom prst="roundRect">
            <a:avLst>
              <a:gd fmla="val 6612" name="adj"/>
            </a:avLst>
          </a:prstGeom>
          <a:solidFill>
            <a:srgbClr val="F3F6FC"/>
          </a:solidFill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5742432" y="3154680"/>
            <a:ext cx="256032" cy="25603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5742432" y="31546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icrosoft JhengHe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6089904" y="3136392"/>
            <a:ext cx="54251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Microsoft JhengHe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Payment Component（本服務）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5760720" y="3538728"/>
            <a:ext cx="5699455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Dr  Suspense（真實分錄）      48,000.00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    Cr Nostro                 48,000.00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Payment Component — 提案業務用例（中文版）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Microsoft JhengHe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用例二B 步驟二：到期還款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500"/>
              <a:buFont typeface="Microsoft JhengHei"/>
              <a:buNone/>
            </a:pPr>
            <a:r>
              <a:rPr b="0" i="0" lang="en-US" sz="15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IBL Repayment（還款）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548640" y="1298448"/>
            <a:ext cx="4846320" cy="329184"/>
          </a:xfrm>
          <a:prstGeom prst="roundRect">
            <a:avLst>
              <a:gd fmla="val 22222" name="adj"/>
            </a:avLst>
          </a:prstGeom>
          <a:solidFill>
            <a:srgbClr val="AD3B2C">
              <a:alpha val="12157"/>
            </a:srgbClr>
          </a:solidFill>
          <a:ln cap="flat" cmpd="sng" w="12700">
            <a:solidFill>
              <a:srgbClr val="AD3B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658368" y="1298448"/>
            <a:ext cx="46268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3B2C"/>
              </a:buClr>
              <a:buSzPts val="1100"/>
              <a:buFont typeface="Microsoft JhengHei"/>
              <a:buNone/>
            </a:pPr>
            <a:r>
              <a:rPr b="1" i="0" lang="en-US" sz="1100" u="none" cap="none" strike="noStrike">
                <a:solidFill>
                  <a:srgbClr val="AD3B2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IPLC ／ 新增 sourceFunctionCode: Repayment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548640" y="1810512"/>
            <a:ext cx="470916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Microsoft JhengHei"/>
              <a:buChar char="▪"/>
            </a:pPr>
            <a:r>
              <a:rPr b="0" i="0" lang="en-US" sz="13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到期日客戶償還本金加計應計利息／貼現費用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80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Microsoft JhengHei"/>
              <a:buChar char="▪"/>
            </a:pPr>
            <a:r>
              <a:rPr b="0" i="0" lang="en-US" sz="13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Balance Component 沖銷 IBL 曝險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80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Microsoft JhengHei"/>
              <a:buChar char="▪"/>
            </a:pPr>
            <a:r>
              <a:rPr b="0" i="0" lang="en-US" sz="13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利息費用透過 Debit Suspense 橋接（debitEntries）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80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Microsoft JhengHei"/>
              <a:buChar char="▪"/>
            </a:pPr>
            <a:r>
              <a:rPr b="0" i="0" lang="en-US" sz="13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需與既有 IPLC:PaymentAtMaturity 案例核對，避免功能重複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548640" y="5349240"/>
            <a:ext cx="2377440" cy="960120"/>
          </a:xfrm>
          <a:prstGeom prst="roundRect">
            <a:avLst>
              <a:gd fmla="val 9524" name="adj"/>
            </a:avLst>
          </a:prstGeom>
          <a:solidFill>
            <a:srgbClr val="1E2761"/>
          </a:solidFill>
          <a:ln>
            <a:noFill/>
          </a:ln>
          <a:effectLst>
            <a:outerShdw blurRad="76200" rotWithShape="0" algn="bl" dir="5400000" dist="25400">
              <a:srgbClr val="1B1F3B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548640" y="545896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icrosoft JhengHe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USD 48,320.00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548640" y="594360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還款總額（含利息）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5577840" y="1737360"/>
            <a:ext cx="6065215" cy="1106424"/>
          </a:xfrm>
          <a:prstGeom prst="roundRect">
            <a:avLst>
              <a:gd fmla="val 6612" name="adj"/>
            </a:avLst>
          </a:prstGeom>
          <a:solidFill>
            <a:srgbClr val="F3F6FC"/>
          </a:solidFill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5742432" y="1828800"/>
            <a:ext cx="256032" cy="256032"/>
          </a:xfrm>
          <a:prstGeom prst="ellipse">
            <a:avLst/>
          </a:prstGeom>
          <a:solidFill>
            <a:srgbClr val="C99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5742432" y="182880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icrosoft JhengHe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6089904" y="1810512"/>
            <a:ext cx="54251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Microsoft JhengHe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Charge Component（自身帳務）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5760720" y="2212848"/>
            <a:ext cx="5699455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Dr  Suspense - Debit         320.00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    Cr 利息收入                320.00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 rot="10800000">
            <a:off x="8528152" y="2871216"/>
            <a:ext cx="164592" cy="146304"/>
          </a:xfrm>
          <a:prstGeom prst="triangle">
            <a:avLst>
              <a:gd fmla="val 50000" name="adj"/>
            </a:avLst>
          </a:prstGeom>
          <a:solidFill>
            <a:srgbClr val="5B70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5577840" y="3063240"/>
            <a:ext cx="6065215" cy="1106424"/>
          </a:xfrm>
          <a:prstGeom prst="roundRect">
            <a:avLst>
              <a:gd fmla="val 6612" name="adj"/>
            </a:avLst>
          </a:prstGeom>
          <a:solidFill>
            <a:srgbClr val="F3F6FC"/>
          </a:solidFill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5742432" y="3154680"/>
            <a:ext cx="256032" cy="256032"/>
          </a:xfrm>
          <a:prstGeom prst="ellipse">
            <a:avLst/>
          </a:prstGeom>
          <a:solidFill>
            <a:srgbClr val="5B70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5742432" y="31546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icrosoft JhengHe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6089904" y="3136392"/>
            <a:ext cx="54251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Microsoft JhengHe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Balance Component（自身帳務）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5760720" y="3538728"/>
            <a:ext cx="5699455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Dr  Suspense               48,000.00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    Cr IBL                  48,000.00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 rot="10800000">
            <a:off x="8528152" y="4197096"/>
            <a:ext cx="164592" cy="146304"/>
          </a:xfrm>
          <a:prstGeom prst="triangle">
            <a:avLst>
              <a:gd fmla="val 50000" name="adj"/>
            </a:avLst>
          </a:prstGeom>
          <a:solidFill>
            <a:srgbClr val="5B70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5577840" y="4389120"/>
            <a:ext cx="6065215" cy="1330452"/>
          </a:xfrm>
          <a:prstGeom prst="roundRect">
            <a:avLst>
              <a:gd fmla="val 5498" name="adj"/>
            </a:avLst>
          </a:prstGeom>
          <a:solidFill>
            <a:srgbClr val="F3F6FC"/>
          </a:solidFill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5742432" y="4480560"/>
            <a:ext cx="256032" cy="25603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5742432" y="448056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icrosoft JhengHe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6089904" y="4462272"/>
            <a:ext cx="54251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Microsoft JhengHe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Payment Component（本服務）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5760720" y="4864608"/>
            <a:ext cx="5699455" cy="763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Dr  客戶帳戶 A/C        48,320.00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    Cr Suspense（真實）  48,000.00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9A2E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99A2E"/>
                </a:solidFill>
                <a:latin typeface="Courier New"/>
                <a:ea typeface="Courier New"/>
                <a:cs typeface="Courier New"/>
                <a:sym typeface="Courier New"/>
              </a:rPr>
              <a:t>    Cr Suspense - Debit       320.00 ←橋接產生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Payment Component — 提案業務用例（中文版）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Microsoft JhengHe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用例二B 子用例：多筆 Dr CA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500"/>
              <a:buFont typeface="Microsoft JhengHei"/>
              <a:buNone/>
            </a:pPr>
            <a:r>
              <a:rPr b="0" i="0" lang="en-US" sz="15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還款由共同申請人各自分擔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548640" y="1600200"/>
            <a:ext cx="5364328" cy="4434840"/>
          </a:xfrm>
          <a:prstGeom prst="roundRect">
            <a:avLst>
              <a:gd fmla="val 2062" name="adj"/>
            </a:avLst>
          </a:prstGeom>
          <a:solidFill>
            <a:srgbClr val="F3F6FC"/>
          </a:solidFill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777240" y="1828800"/>
            <a:ext cx="658368" cy="384048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"/>
          <p:cNvSpPr/>
          <p:nvPr/>
        </p:nvSpPr>
        <p:spPr>
          <a:xfrm>
            <a:off x="777240" y="1828800"/>
            <a:ext cx="6583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icrosoft JhengHe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2B-1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1572768" y="1801368"/>
            <a:ext cx="4157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Microsoft JhengHe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多筆 Dr CA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822960" y="2377440"/>
            <a:ext cx="481568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Microsoft JhengHei"/>
              <a:buChar char="▪"/>
            </a:pPr>
            <a:r>
              <a:rPr b="0" i="0" lang="en-US" sz="120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共同申請人 A、B 各自償還一半本金加上一半利息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822960" y="4114800"/>
            <a:ext cx="4815688" cy="9144"/>
          </a:xfrm>
          <a:prstGeom prst="rect">
            <a:avLst/>
          </a:prstGeom>
          <a:noFill/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"/>
          <p:cNvSpPr/>
          <p:nvPr/>
        </p:nvSpPr>
        <p:spPr>
          <a:xfrm>
            <a:off x="822960" y="4251960"/>
            <a:ext cx="4815688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CUST-ACC-A        USD 24,160.00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CUST-ACC-B        USD 24,160.00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6278728" y="1600200"/>
            <a:ext cx="5364328" cy="4434840"/>
          </a:xfrm>
          <a:prstGeom prst="roundRect">
            <a:avLst>
              <a:gd fmla="val 2062" name="adj"/>
            </a:avLst>
          </a:prstGeom>
          <a:solidFill>
            <a:srgbClr val="F3F6FC"/>
          </a:solidFill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"/>
          <p:cNvSpPr/>
          <p:nvPr/>
        </p:nvSpPr>
        <p:spPr>
          <a:xfrm>
            <a:off x="6507328" y="1828800"/>
            <a:ext cx="658368" cy="384048"/>
          </a:xfrm>
          <a:prstGeom prst="roundRect">
            <a:avLst>
              <a:gd fmla="val 50000" name="adj"/>
            </a:avLst>
          </a:prstGeom>
          <a:solidFill>
            <a:srgbClr val="C99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"/>
          <p:cNvSpPr/>
          <p:nvPr/>
        </p:nvSpPr>
        <p:spPr>
          <a:xfrm>
            <a:off x="6507328" y="1828800"/>
            <a:ext cx="6583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icrosoft JhengHe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2B-2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7302856" y="1801368"/>
            <a:ext cx="4157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Microsoft JhengHe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多筆 Dr CA、多幣別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6553048" y="2377440"/>
            <a:ext cx="481568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Microsoft JhengHei"/>
              <a:buChar char="▪"/>
            </a:pPr>
            <a:r>
              <a:rPr b="0" i="0" lang="en-US" sz="120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共同申請人 B 改以 EUR 帳戶結算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6553048" y="4114800"/>
            <a:ext cx="4815688" cy="9144"/>
          </a:xfrm>
          <a:prstGeom prst="rect">
            <a:avLst/>
          </a:prstGeom>
          <a:noFill/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"/>
          <p:cNvSpPr/>
          <p:nvPr/>
        </p:nvSpPr>
        <p:spPr>
          <a:xfrm>
            <a:off x="6553048" y="4251960"/>
            <a:ext cx="4815688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CUST-ACC-A        USD 24,160.00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CUST-ACC-B        EUR 22,306.81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  （= USD 24,160.00 等值 @0.923295）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Payment Component — 提案業務用例（中文版）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Microsoft JhengHe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用例三：出口 LC 即期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500"/>
              <a:buFont typeface="Microsoft JhengHei"/>
              <a:buNone/>
            </a:pPr>
            <a:r>
              <a:rPr b="0" i="0" lang="en-US" sz="15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由 Nostro 取得款項，付款予客戶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548640" y="1298448"/>
            <a:ext cx="4572000" cy="329184"/>
          </a:xfrm>
          <a:prstGeom prst="roundRect">
            <a:avLst>
              <a:gd fmla="val 22222" name="adj"/>
            </a:avLst>
          </a:prstGeom>
          <a:solidFill>
            <a:srgbClr val="C99A2E">
              <a:alpha val="12157"/>
            </a:srgbClr>
          </a:solidFill>
          <a:ln cap="flat" cmpd="sng" w="12700">
            <a:solidFill>
              <a:srgbClr val="C99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658368" y="1298448"/>
            <a:ext cx="43525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A2E"/>
              </a:buClr>
              <a:buSzPts val="1100"/>
              <a:buFont typeface="Microsoft JhengHei"/>
              <a:buNone/>
            </a:pPr>
            <a:r>
              <a:rPr b="1" i="0" lang="en-US" sz="1100" u="none" cap="none" strike="noStrike">
                <a:solidFill>
                  <a:srgbClr val="C99A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EXCO ／ 既有 sourceFunctionCode: Payment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548640" y="1810512"/>
            <a:ext cx="470916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Microsoft JhengHei"/>
              <a:buChar char="▪"/>
            </a:pPr>
            <a:r>
              <a:rPr b="0" i="0" lang="en-US" sz="13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開狀銀行透過 Nostro 匯來償付款項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80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Microsoft JhengHei"/>
              <a:buChar char="▪"/>
            </a:pPr>
            <a:r>
              <a:rPr b="0" i="0" lang="en-US" sz="13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銀行先扣除押匯／手續費用，再支付出口商淨收益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80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Microsoft JhengHei"/>
              <a:buChar char="▪"/>
            </a:pPr>
            <a:r>
              <a:rPr b="0" i="0" lang="en-US" sz="13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對應既有登錄案例 exco-payment，此處延伸手續費橋接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80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Microsoft JhengHei"/>
              <a:buChar char="▪"/>
            </a:pPr>
            <a:r>
              <a:rPr b="0" i="0" lang="en-US" sz="13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待確認：本案例究竟屬於 EPLC 或 EXCO 模組（適用於用例三～五）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548640" y="5349240"/>
            <a:ext cx="2377440" cy="960120"/>
          </a:xfrm>
          <a:prstGeom prst="roundRect">
            <a:avLst>
              <a:gd fmla="val 9524" name="adj"/>
            </a:avLst>
          </a:prstGeom>
          <a:solidFill>
            <a:srgbClr val="1E2761"/>
          </a:solidFill>
          <a:ln>
            <a:noFill/>
          </a:ln>
          <a:effectLst>
            <a:outerShdw blurRad="76200" rotWithShape="0" algn="bl" dir="5400000" dist="25400">
              <a:srgbClr val="1B1F3B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548640" y="545896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icrosoft JhengHe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USD 30,000.00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548640" y="594360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償付總額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5577840" y="1737360"/>
            <a:ext cx="6065215" cy="1106424"/>
          </a:xfrm>
          <a:prstGeom prst="roundRect">
            <a:avLst>
              <a:gd fmla="val 6612" name="adj"/>
            </a:avLst>
          </a:prstGeom>
          <a:solidFill>
            <a:srgbClr val="F3F6FC"/>
          </a:solidFill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3"/>
          <p:cNvSpPr/>
          <p:nvPr/>
        </p:nvSpPr>
        <p:spPr>
          <a:xfrm>
            <a:off x="5742432" y="1828800"/>
            <a:ext cx="256032" cy="256032"/>
          </a:xfrm>
          <a:prstGeom prst="ellipse">
            <a:avLst/>
          </a:prstGeom>
          <a:solidFill>
            <a:srgbClr val="C99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3"/>
          <p:cNvSpPr/>
          <p:nvPr/>
        </p:nvSpPr>
        <p:spPr>
          <a:xfrm>
            <a:off x="5742432" y="182880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icrosoft JhengHe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6089904" y="1810512"/>
            <a:ext cx="54251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Microsoft JhengHe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Charge Component（自身帳務）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5760720" y="2212848"/>
            <a:ext cx="5699455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Dr  Suspense - Credit         45.00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    Cr 手續費                   45.00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 rot="10800000">
            <a:off x="8528152" y="2871216"/>
            <a:ext cx="164592" cy="146304"/>
          </a:xfrm>
          <a:prstGeom prst="triangle">
            <a:avLst>
              <a:gd fmla="val 50000" name="adj"/>
            </a:avLst>
          </a:prstGeom>
          <a:solidFill>
            <a:srgbClr val="5B70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"/>
          <p:cNvSpPr/>
          <p:nvPr/>
        </p:nvSpPr>
        <p:spPr>
          <a:xfrm>
            <a:off x="5577840" y="3063240"/>
            <a:ext cx="6065215" cy="1330452"/>
          </a:xfrm>
          <a:prstGeom prst="roundRect">
            <a:avLst>
              <a:gd fmla="val 5498" name="adj"/>
            </a:avLst>
          </a:prstGeom>
          <a:solidFill>
            <a:srgbClr val="F3F6FC"/>
          </a:solidFill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/>
          <p:nvPr/>
        </p:nvSpPr>
        <p:spPr>
          <a:xfrm>
            <a:off x="5742432" y="3154680"/>
            <a:ext cx="256032" cy="25603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"/>
          <p:cNvSpPr/>
          <p:nvPr/>
        </p:nvSpPr>
        <p:spPr>
          <a:xfrm>
            <a:off x="5742432" y="31546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icrosoft JhengHe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6089904" y="3136392"/>
            <a:ext cx="54251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Microsoft JhengHe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Payment Component（本服務）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5760720" y="3538728"/>
            <a:ext cx="5699455" cy="763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Dr  Nostro                30,000.00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    Cr 客戶帳戶 A/C          29,955.00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9A2E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99A2E"/>
                </a:solidFill>
                <a:latin typeface="Courier New"/>
                <a:ea typeface="Courier New"/>
                <a:cs typeface="Courier New"/>
                <a:sym typeface="Courier New"/>
              </a:rPr>
              <a:t>    Cr Suspense - Credit        45.00 ←橋接產生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Payment Component — 提案業務用例（中文版）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Microsoft JhengHe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用例三 子用例：多筆 Cr CA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500"/>
              <a:buFont typeface="Microsoft JhengHei"/>
              <a:buNone/>
            </a:pPr>
            <a:r>
              <a:rPr b="0" i="0" lang="en-US" sz="15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收益分別匯入往來帳與貸款還款帳戶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548640" y="1600200"/>
            <a:ext cx="5364328" cy="4434840"/>
          </a:xfrm>
          <a:prstGeom prst="roundRect">
            <a:avLst>
              <a:gd fmla="val 2062" name="adj"/>
            </a:avLst>
          </a:prstGeom>
          <a:solidFill>
            <a:srgbClr val="F3F6FC"/>
          </a:solidFill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4"/>
          <p:cNvSpPr/>
          <p:nvPr/>
        </p:nvSpPr>
        <p:spPr>
          <a:xfrm>
            <a:off x="777240" y="1828800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"/>
          <p:cNvSpPr/>
          <p:nvPr/>
        </p:nvSpPr>
        <p:spPr>
          <a:xfrm>
            <a:off x="777240" y="18288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icrosoft JhengHe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1298448" y="1801368"/>
            <a:ext cx="4431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Microsoft JhengHe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多筆 Cr CA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822960" y="2377440"/>
            <a:ext cx="481568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Microsoft JhengHei"/>
              <a:buChar char="▪"/>
            </a:pPr>
            <a:r>
              <a:rPr b="0" i="0" lang="en-US" sz="120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部分淨收益直接償還裝船前融資（打包放款）貸款，餘額存入往來帳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822960" y="4114800"/>
            <a:ext cx="4815688" cy="9144"/>
          </a:xfrm>
          <a:prstGeom prst="rect">
            <a:avLst/>
          </a:prstGeom>
          <a:noFill/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4"/>
          <p:cNvSpPr/>
          <p:nvPr/>
        </p:nvSpPr>
        <p:spPr>
          <a:xfrm>
            <a:off x="822960" y="4251960"/>
            <a:ext cx="4815688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CUST-ACC          USD 15,000.00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CUST-LOAN-ACC     USD 14,955.00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6278728" y="1600200"/>
            <a:ext cx="5364328" cy="4434840"/>
          </a:xfrm>
          <a:prstGeom prst="roundRect">
            <a:avLst>
              <a:gd fmla="val 2062" name="adj"/>
            </a:avLst>
          </a:prstGeom>
          <a:solidFill>
            <a:srgbClr val="F3F6FC"/>
          </a:solidFill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4"/>
          <p:cNvSpPr/>
          <p:nvPr/>
        </p:nvSpPr>
        <p:spPr>
          <a:xfrm>
            <a:off x="6507328" y="1828800"/>
            <a:ext cx="384048" cy="384048"/>
          </a:xfrm>
          <a:prstGeom prst="ellipse">
            <a:avLst/>
          </a:prstGeom>
          <a:solidFill>
            <a:srgbClr val="C99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4"/>
          <p:cNvSpPr/>
          <p:nvPr/>
        </p:nvSpPr>
        <p:spPr>
          <a:xfrm>
            <a:off x="6507328" y="18288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icrosoft JhengHe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7028536" y="1801368"/>
            <a:ext cx="4431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Microsoft JhengHe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多筆 Cr CA、多幣別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6553048" y="2377440"/>
            <a:ext cx="481568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Microsoft JhengHei"/>
              <a:buChar char="▪"/>
            </a:pPr>
            <a:r>
              <a:rPr b="0" i="0" lang="en-US" sz="120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貸款還款帳戶改為 EUR 計價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6553048" y="4114800"/>
            <a:ext cx="4815688" cy="9144"/>
          </a:xfrm>
          <a:prstGeom prst="rect">
            <a:avLst/>
          </a:prstGeom>
          <a:noFill/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4"/>
          <p:cNvSpPr/>
          <p:nvPr/>
        </p:nvSpPr>
        <p:spPr>
          <a:xfrm>
            <a:off x="6553048" y="4251960"/>
            <a:ext cx="4815688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CUST-ACC          USD 15,000.00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CUST-LOAN-ACC     EUR 13,807.88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  （= USD 14,955.00 等值 @0.923295）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Payment Component — 提案業務用例（中文版）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5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Microsoft JhengHe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用例四：出口 LC 遠期押匯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500"/>
              <a:buFont typeface="Microsoft JhengHei"/>
              <a:buNone/>
            </a:pPr>
            <a:r>
              <a:rPr b="0" i="0" lang="en-US" sz="15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Negotiation 產生 EBL 曝險，付款予客戶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5"/>
          <p:cNvSpPr/>
          <p:nvPr/>
        </p:nvSpPr>
        <p:spPr>
          <a:xfrm>
            <a:off x="548640" y="1298448"/>
            <a:ext cx="4846320" cy="329184"/>
          </a:xfrm>
          <a:prstGeom prst="roundRect">
            <a:avLst>
              <a:gd fmla="val 22222" name="adj"/>
            </a:avLst>
          </a:prstGeom>
          <a:solidFill>
            <a:srgbClr val="AD3B2C">
              <a:alpha val="12157"/>
            </a:srgbClr>
          </a:solidFill>
          <a:ln cap="flat" cmpd="sng" w="12700">
            <a:solidFill>
              <a:srgbClr val="AD3B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5"/>
          <p:cNvSpPr/>
          <p:nvPr/>
        </p:nvSpPr>
        <p:spPr>
          <a:xfrm>
            <a:off x="658368" y="1298448"/>
            <a:ext cx="46268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3B2C"/>
              </a:buClr>
              <a:buSzPts val="1100"/>
              <a:buFont typeface="Microsoft JhengHei"/>
              <a:buNone/>
            </a:pPr>
            <a:r>
              <a:rPr b="1" i="0" lang="en-US" sz="1100" u="none" cap="none" strike="noStrike">
                <a:solidFill>
                  <a:srgbClr val="AD3B2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EPLC ／ 新增 sourceFunctionCode: Negotiation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548640" y="1810512"/>
            <a:ext cx="470916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Microsoft JhengHei"/>
              <a:buChar char="▪"/>
            </a:pPr>
            <a:r>
              <a:rPr b="0" i="0" lang="en-US" sz="13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償付到期前，銀行先對遠期匯票押匯，支付出口商折扣後款項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80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Microsoft JhengHei"/>
              <a:buChar char="▪"/>
            </a:pPr>
            <a:r>
              <a:rPr b="0" i="0" lang="en-US" sz="13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Balance Component 記錄 EBL（出口押匯負債）曝險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80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Microsoft JhengHei"/>
              <a:buChar char="▪"/>
            </a:pPr>
            <a:r>
              <a:rPr b="0" i="0" lang="en-US" sz="13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Payment Component 過帳真實 SUSPENSE 分錄；押匯利息透過 Credit Suspense 橋接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80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Microsoft JhengHei"/>
              <a:buChar char="▪"/>
            </a:pPr>
            <a:r>
              <a:rPr b="0" i="0" lang="en-US" sz="13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待確認：與既有 eplc-discount 案例（方向相反）核對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548640" y="5349240"/>
            <a:ext cx="2377440" cy="960120"/>
          </a:xfrm>
          <a:prstGeom prst="roundRect">
            <a:avLst>
              <a:gd fmla="val 9524" name="adj"/>
            </a:avLst>
          </a:prstGeom>
          <a:solidFill>
            <a:srgbClr val="1E2761"/>
          </a:solidFill>
          <a:ln>
            <a:noFill/>
          </a:ln>
          <a:effectLst>
            <a:outerShdw blurRad="76200" rotWithShape="0" algn="bl" dir="5400000" dist="25400">
              <a:srgbClr val="1B1F3B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5"/>
          <p:cNvSpPr/>
          <p:nvPr/>
        </p:nvSpPr>
        <p:spPr>
          <a:xfrm>
            <a:off x="548640" y="545896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icrosoft JhengHe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USD 30,000.00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548640" y="594360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匯票面額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5577840" y="1737360"/>
            <a:ext cx="6065215" cy="1106424"/>
          </a:xfrm>
          <a:prstGeom prst="roundRect">
            <a:avLst>
              <a:gd fmla="val 6612" name="adj"/>
            </a:avLst>
          </a:prstGeom>
          <a:solidFill>
            <a:srgbClr val="F3F6FC"/>
          </a:solidFill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5"/>
          <p:cNvSpPr/>
          <p:nvPr/>
        </p:nvSpPr>
        <p:spPr>
          <a:xfrm>
            <a:off x="5742432" y="1828800"/>
            <a:ext cx="256032" cy="256032"/>
          </a:xfrm>
          <a:prstGeom prst="ellipse">
            <a:avLst/>
          </a:prstGeom>
          <a:solidFill>
            <a:srgbClr val="5B70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5"/>
          <p:cNvSpPr/>
          <p:nvPr/>
        </p:nvSpPr>
        <p:spPr>
          <a:xfrm>
            <a:off x="5742432" y="182880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icrosoft JhengHe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6089904" y="1810512"/>
            <a:ext cx="54251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Microsoft JhengHe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Balance Component（自身帳務）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/>
          <p:nvPr/>
        </p:nvSpPr>
        <p:spPr>
          <a:xfrm>
            <a:off x="5760720" y="2212848"/>
            <a:ext cx="5699455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Dr  EBL（或有負債）          30,000.00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    Cr Suspense               30,000.00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5"/>
          <p:cNvSpPr/>
          <p:nvPr/>
        </p:nvSpPr>
        <p:spPr>
          <a:xfrm rot="10800000">
            <a:off x="8528152" y="2871216"/>
            <a:ext cx="164592" cy="146304"/>
          </a:xfrm>
          <a:prstGeom prst="triangle">
            <a:avLst>
              <a:gd fmla="val 50000" name="adj"/>
            </a:avLst>
          </a:prstGeom>
          <a:solidFill>
            <a:srgbClr val="5B70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5"/>
          <p:cNvSpPr/>
          <p:nvPr/>
        </p:nvSpPr>
        <p:spPr>
          <a:xfrm>
            <a:off x="5577840" y="3063240"/>
            <a:ext cx="6065215" cy="1106424"/>
          </a:xfrm>
          <a:prstGeom prst="roundRect">
            <a:avLst>
              <a:gd fmla="val 6612" name="adj"/>
            </a:avLst>
          </a:prstGeom>
          <a:solidFill>
            <a:srgbClr val="F3F6FC"/>
          </a:solidFill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5"/>
          <p:cNvSpPr/>
          <p:nvPr/>
        </p:nvSpPr>
        <p:spPr>
          <a:xfrm>
            <a:off x="5742432" y="3154680"/>
            <a:ext cx="256032" cy="256032"/>
          </a:xfrm>
          <a:prstGeom prst="ellipse">
            <a:avLst/>
          </a:prstGeom>
          <a:solidFill>
            <a:srgbClr val="C99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5"/>
          <p:cNvSpPr/>
          <p:nvPr/>
        </p:nvSpPr>
        <p:spPr>
          <a:xfrm>
            <a:off x="5742432" y="31546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icrosoft JhengHe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6089904" y="3136392"/>
            <a:ext cx="54251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Microsoft JhengHe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Charge Component（自身帳務）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/>
          <p:nvPr/>
        </p:nvSpPr>
        <p:spPr>
          <a:xfrm>
            <a:off x="5760720" y="3538728"/>
            <a:ext cx="5699455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Dr  Suspense - Credit        380.00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    Cr 押匯利息／手續費          380.00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 rot="10800000">
            <a:off x="8528152" y="4197096"/>
            <a:ext cx="164592" cy="146304"/>
          </a:xfrm>
          <a:prstGeom prst="triangle">
            <a:avLst>
              <a:gd fmla="val 50000" name="adj"/>
            </a:avLst>
          </a:prstGeom>
          <a:solidFill>
            <a:srgbClr val="5B70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5"/>
          <p:cNvSpPr/>
          <p:nvPr/>
        </p:nvSpPr>
        <p:spPr>
          <a:xfrm>
            <a:off x="5577840" y="4389120"/>
            <a:ext cx="6065215" cy="1330452"/>
          </a:xfrm>
          <a:prstGeom prst="roundRect">
            <a:avLst>
              <a:gd fmla="val 5498" name="adj"/>
            </a:avLst>
          </a:prstGeom>
          <a:solidFill>
            <a:srgbClr val="F3F6FC"/>
          </a:solidFill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5"/>
          <p:cNvSpPr/>
          <p:nvPr/>
        </p:nvSpPr>
        <p:spPr>
          <a:xfrm>
            <a:off x="5742432" y="4480560"/>
            <a:ext cx="256032" cy="25603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5"/>
          <p:cNvSpPr/>
          <p:nvPr/>
        </p:nvSpPr>
        <p:spPr>
          <a:xfrm>
            <a:off x="5742432" y="448056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icrosoft JhengHe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6089904" y="4462272"/>
            <a:ext cx="54251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Microsoft JhengHe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Payment Component（本服務）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5760720" y="4864608"/>
            <a:ext cx="5699455" cy="763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Dr  Suspense（真實）      30,000.00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    Cr 客戶帳戶 A/C          29,620.00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9A2E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99A2E"/>
                </a:solidFill>
                <a:latin typeface="Courier New"/>
                <a:ea typeface="Courier New"/>
                <a:cs typeface="Courier New"/>
                <a:sym typeface="Courier New"/>
              </a:rPr>
              <a:t>    Cr Suspense - Credit       380.00 ←橋接產生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Payment Component — 提案業務用例（中文版）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6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Microsoft JhengHe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用例四 子用例：多筆 Cr CA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6"/>
          <p:cNvSpPr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500"/>
              <a:buFont typeface="Microsoft JhengHei"/>
              <a:buNone/>
            </a:pPr>
            <a:r>
              <a:rPr b="0" i="0" lang="en-US" sz="15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押匯收益分別匯入往來帳與貸款還款帳戶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6"/>
          <p:cNvSpPr/>
          <p:nvPr/>
        </p:nvSpPr>
        <p:spPr>
          <a:xfrm>
            <a:off x="548640" y="1600200"/>
            <a:ext cx="5364328" cy="4434840"/>
          </a:xfrm>
          <a:prstGeom prst="roundRect">
            <a:avLst>
              <a:gd fmla="val 2062" name="adj"/>
            </a:avLst>
          </a:prstGeom>
          <a:solidFill>
            <a:srgbClr val="F3F6FC"/>
          </a:solidFill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6"/>
          <p:cNvSpPr/>
          <p:nvPr/>
        </p:nvSpPr>
        <p:spPr>
          <a:xfrm>
            <a:off x="777240" y="1828800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6"/>
          <p:cNvSpPr/>
          <p:nvPr/>
        </p:nvSpPr>
        <p:spPr>
          <a:xfrm>
            <a:off x="777240" y="18288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icrosoft JhengHe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1298448" y="1801368"/>
            <a:ext cx="4431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Microsoft JhengHe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多筆 Cr CA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/>
          <p:nvPr/>
        </p:nvSpPr>
        <p:spPr>
          <a:xfrm>
            <a:off x="822960" y="2377440"/>
            <a:ext cx="481568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Microsoft JhengHei"/>
              <a:buChar char="▪"/>
            </a:pPr>
            <a:r>
              <a:rPr b="0" i="0" lang="en-US" sz="120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押匯收益往往立即用於償還裝船前融資貸款，餘額才存入往來帳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/>
          <p:nvPr/>
        </p:nvSpPr>
        <p:spPr>
          <a:xfrm>
            <a:off x="822960" y="4114800"/>
            <a:ext cx="4815688" cy="9144"/>
          </a:xfrm>
          <a:prstGeom prst="rect">
            <a:avLst/>
          </a:prstGeom>
          <a:noFill/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6"/>
          <p:cNvSpPr/>
          <p:nvPr/>
        </p:nvSpPr>
        <p:spPr>
          <a:xfrm>
            <a:off x="822960" y="4251960"/>
            <a:ext cx="4815688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CUST-ACC          USD 20,000.00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CUST-LOAN-ACC     USD  9,620.00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6"/>
          <p:cNvSpPr/>
          <p:nvPr/>
        </p:nvSpPr>
        <p:spPr>
          <a:xfrm>
            <a:off x="6278728" y="1600200"/>
            <a:ext cx="5364328" cy="4434840"/>
          </a:xfrm>
          <a:prstGeom prst="roundRect">
            <a:avLst>
              <a:gd fmla="val 2062" name="adj"/>
            </a:avLst>
          </a:prstGeom>
          <a:solidFill>
            <a:srgbClr val="F3F6FC"/>
          </a:solidFill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6"/>
          <p:cNvSpPr/>
          <p:nvPr/>
        </p:nvSpPr>
        <p:spPr>
          <a:xfrm>
            <a:off x="6507328" y="1828800"/>
            <a:ext cx="384048" cy="384048"/>
          </a:xfrm>
          <a:prstGeom prst="ellipse">
            <a:avLst/>
          </a:prstGeom>
          <a:solidFill>
            <a:srgbClr val="C99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6"/>
          <p:cNvSpPr/>
          <p:nvPr/>
        </p:nvSpPr>
        <p:spPr>
          <a:xfrm>
            <a:off x="6507328" y="18288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icrosoft JhengHe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/>
          <p:nvPr/>
        </p:nvSpPr>
        <p:spPr>
          <a:xfrm>
            <a:off x="7028536" y="1801368"/>
            <a:ext cx="4431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Microsoft JhengHe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多筆 Cr CA、多幣別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6"/>
          <p:cNvSpPr/>
          <p:nvPr/>
        </p:nvSpPr>
        <p:spPr>
          <a:xfrm>
            <a:off x="6553048" y="2377440"/>
            <a:ext cx="481568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Microsoft JhengHei"/>
              <a:buChar char="▪"/>
            </a:pPr>
            <a:r>
              <a:rPr b="0" i="0" lang="en-US" sz="120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貸款還款帳戶改為 EUR 計價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6"/>
          <p:cNvSpPr/>
          <p:nvPr/>
        </p:nvSpPr>
        <p:spPr>
          <a:xfrm>
            <a:off x="6553048" y="4114800"/>
            <a:ext cx="4815688" cy="9144"/>
          </a:xfrm>
          <a:prstGeom prst="rect">
            <a:avLst/>
          </a:prstGeom>
          <a:noFill/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6"/>
          <p:cNvSpPr/>
          <p:nvPr/>
        </p:nvSpPr>
        <p:spPr>
          <a:xfrm>
            <a:off x="6553048" y="4251960"/>
            <a:ext cx="4815688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CUST-ACC          USD 20,000.00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CUST-LOAN-ACC     EUR  8,882.10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  （= USD 9,620.00 等值 @0.923295）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6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Payment Component — 提案業務用例（中文版）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6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7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Microsoft JhengHe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用例五：出口 LC 遠期 EBL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7"/>
          <p:cNvSpPr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500"/>
              <a:buFont typeface="Microsoft JhengHei"/>
              <a:buNone/>
            </a:pPr>
            <a:r>
              <a:rPr b="0" i="0" lang="en-US" sz="15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到期日由 Nostro 取得款項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7"/>
          <p:cNvSpPr/>
          <p:nvPr/>
        </p:nvSpPr>
        <p:spPr>
          <a:xfrm>
            <a:off x="548640" y="1298448"/>
            <a:ext cx="6035040" cy="329184"/>
          </a:xfrm>
          <a:prstGeom prst="roundRect">
            <a:avLst>
              <a:gd fmla="val 22222" name="adj"/>
            </a:avLst>
          </a:prstGeom>
          <a:solidFill>
            <a:srgbClr val="AD3B2C">
              <a:alpha val="12157"/>
            </a:srgbClr>
          </a:solidFill>
          <a:ln cap="flat" cmpd="sng" w="12700">
            <a:solidFill>
              <a:srgbClr val="AD3B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7"/>
          <p:cNvSpPr/>
          <p:nvPr/>
        </p:nvSpPr>
        <p:spPr>
          <a:xfrm>
            <a:off x="658368" y="1298448"/>
            <a:ext cx="58155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3B2C"/>
              </a:buClr>
              <a:buSzPts val="1100"/>
              <a:buFont typeface="Microsoft JhengHei"/>
              <a:buNone/>
            </a:pPr>
            <a:r>
              <a:rPr b="1" i="0" lang="en-US" sz="1100" u="none" cap="none" strike="noStrike">
                <a:solidFill>
                  <a:srgbClr val="AD3B2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EPLC ／ 新增 Reimbursement — 確認程度最低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7"/>
          <p:cNvSpPr/>
          <p:nvPr/>
        </p:nvSpPr>
        <p:spPr>
          <a:xfrm>
            <a:off x="548640" y="1810512"/>
            <a:ext cx="470916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Microsoft JhengHei"/>
              <a:buChar char="▪"/>
            </a:pPr>
            <a:r>
              <a:rPr b="0" i="0" lang="en-US" sz="13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到期日開狀銀行透過 Nostro 匯來償付款項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80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Microsoft JhengHei"/>
              <a:buChar char="▪"/>
            </a:pPr>
            <a:r>
              <a:rPr b="0" i="0" lang="en-US" sz="13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出口商已於押匯時（用例四）取得款項，本次呼叫無客戶分錄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80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Microsoft JhengHei"/>
              <a:buChar char="▪"/>
            </a:pPr>
            <a:r>
              <a:rPr b="0" i="0" lang="en-US" sz="13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Balance Component 沖銷 EBL 曝險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80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Microsoft JhengHei"/>
              <a:buChar char="▪"/>
            </a:pPr>
            <a:r>
              <a:rPr b="0" i="0" lang="en-US" sz="13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 將 README 已確認的 CUSTOMER 側還款形狀，互換為 NOSTRO 側 — 屬提議通則化，尚未獨立確認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7"/>
          <p:cNvSpPr/>
          <p:nvPr/>
        </p:nvSpPr>
        <p:spPr>
          <a:xfrm>
            <a:off x="5577840" y="1737360"/>
            <a:ext cx="6065215" cy="1106424"/>
          </a:xfrm>
          <a:prstGeom prst="roundRect">
            <a:avLst>
              <a:gd fmla="val 6612" name="adj"/>
            </a:avLst>
          </a:prstGeom>
          <a:solidFill>
            <a:srgbClr val="F3F6FC"/>
          </a:solidFill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7"/>
          <p:cNvSpPr/>
          <p:nvPr/>
        </p:nvSpPr>
        <p:spPr>
          <a:xfrm>
            <a:off x="5742432" y="1828800"/>
            <a:ext cx="256032" cy="256032"/>
          </a:xfrm>
          <a:prstGeom prst="ellipse">
            <a:avLst/>
          </a:prstGeom>
          <a:solidFill>
            <a:srgbClr val="5B70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7"/>
          <p:cNvSpPr/>
          <p:nvPr/>
        </p:nvSpPr>
        <p:spPr>
          <a:xfrm>
            <a:off x="5742432" y="182880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icrosoft JhengHe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7"/>
          <p:cNvSpPr/>
          <p:nvPr/>
        </p:nvSpPr>
        <p:spPr>
          <a:xfrm>
            <a:off x="6089904" y="1810512"/>
            <a:ext cx="54251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Microsoft JhengHe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Balance Component（自身帳務）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7"/>
          <p:cNvSpPr/>
          <p:nvPr/>
        </p:nvSpPr>
        <p:spPr>
          <a:xfrm>
            <a:off x="5760720" y="2212848"/>
            <a:ext cx="5699455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Dr  Suspense               30,000.00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    Cr EBL                  30,000.00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7"/>
          <p:cNvSpPr/>
          <p:nvPr/>
        </p:nvSpPr>
        <p:spPr>
          <a:xfrm rot="10800000">
            <a:off x="8528152" y="2871216"/>
            <a:ext cx="164592" cy="146304"/>
          </a:xfrm>
          <a:prstGeom prst="triangle">
            <a:avLst>
              <a:gd fmla="val 50000" name="adj"/>
            </a:avLst>
          </a:prstGeom>
          <a:solidFill>
            <a:srgbClr val="5B70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7"/>
          <p:cNvSpPr/>
          <p:nvPr/>
        </p:nvSpPr>
        <p:spPr>
          <a:xfrm>
            <a:off x="5577840" y="3063240"/>
            <a:ext cx="6065215" cy="1106424"/>
          </a:xfrm>
          <a:prstGeom prst="roundRect">
            <a:avLst>
              <a:gd fmla="val 6612" name="adj"/>
            </a:avLst>
          </a:prstGeom>
          <a:solidFill>
            <a:srgbClr val="F3F6FC"/>
          </a:solidFill>
          <a:ln cap="flat" cmpd="sng" w="12700">
            <a:solidFill>
              <a:srgbClr val="DCE4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7"/>
          <p:cNvSpPr/>
          <p:nvPr/>
        </p:nvSpPr>
        <p:spPr>
          <a:xfrm>
            <a:off x="5742432" y="3154680"/>
            <a:ext cx="256032" cy="25603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7"/>
          <p:cNvSpPr/>
          <p:nvPr/>
        </p:nvSpPr>
        <p:spPr>
          <a:xfrm>
            <a:off x="5742432" y="31546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icrosoft JhengHe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7"/>
          <p:cNvSpPr/>
          <p:nvPr/>
        </p:nvSpPr>
        <p:spPr>
          <a:xfrm>
            <a:off x="6089904" y="3136392"/>
            <a:ext cx="54251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Microsoft JhengHe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Payment Component（本服務）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7"/>
          <p:cNvSpPr/>
          <p:nvPr/>
        </p:nvSpPr>
        <p:spPr>
          <a:xfrm>
            <a:off x="5760720" y="3538728"/>
            <a:ext cx="5699455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Dr  Nostro                30,000.00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rPr>
              <a:t>    Cr Suspense（真實）    30,000.00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7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Payment Component — 提案業務用例（中文版）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8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Microsoft JhengHe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跨用例待確認事項彙整（1/2）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8"/>
          <p:cNvSpPr/>
          <p:nvPr/>
        </p:nvSpPr>
        <p:spPr>
          <a:xfrm>
            <a:off x="548640" y="1709928"/>
            <a:ext cx="457200" cy="457200"/>
          </a:xfrm>
          <a:prstGeom prst="ellipse">
            <a:avLst/>
          </a:prstGeom>
          <a:solidFill>
            <a:srgbClr val="AD3B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8"/>
          <p:cNvSpPr/>
          <p:nvPr/>
        </p:nvSpPr>
        <p:spPr>
          <a:xfrm>
            <a:off x="548640" y="17099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8"/>
          <p:cNvSpPr/>
          <p:nvPr/>
        </p:nvSpPr>
        <p:spPr>
          <a:xfrm>
            <a:off x="1207008" y="1664208"/>
            <a:ext cx="1043604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Microsoft JhengHe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憑證代碼前綴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8"/>
          <p:cNvSpPr/>
          <p:nvPr/>
        </p:nvSpPr>
        <p:spPr>
          <a:xfrm>
            <a:off x="1207008" y="2020824"/>
            <a:ext cx="10436047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Microsoft JhengHei"/>
              <a:buNone/>
            </a:pPr>
            <a:r>
              <a:rPr b="0" i="0" lang="en-US" sz="12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五個提議 sourceFunctionCode（Issue、Acceptance、Repayment、Negotiation、Reimbursement）均不在 VOUCHER_CODE_PREFIXES 中，需查閱 Payment_Mapping_Functions.docx §6 或核對既有登錄功能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8"/>
          <p:cNvSpPr/>
          <p:nvPr/>
        </p:nvSpPr>
        <p:spPr>
          <a:xfrm>
            <a:off x="548640" y="2670048"/>
            <a:ext cx="457200" cy="457200"/>
          </a:xfrm>
          <a:prstGeom prst="ellipse">
            <a:avLst/>
          </a:prstGeom>
          <a:solidFill>
            <a:srgbClr val="AD3B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8"/>
          <p:cNvSpPr/>
          <p:nvPr/>
        </p:nvSpPr>
        <p:spPr>
          <a:xfrm>
            <a:off x="548640" y="2670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8"/>
          <p:cNvSpPr/>
          <p:nvPr/>
        </p:nvSpPr>
        <p:spPr>
          <a:xfrm>
            <a:off x="1207008" y="2624328"/>
            <a:ext cx="1043604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Microsoft JhengHe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EPLC vs EXCO 模組選擇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8"/>
          <p:cNvSpPr/>
          <p:nvPr/>
        </p:nvSpPr>
        <p:spPr>
          <a:xfrm>
            <a:off x="1207008" y="2980944"/>
            <a:ext cx="10436047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Microsoft JhengHei"/>
              <a:buNone/>
            </a:pPr>
            <a:r>
              <a:rPr b="0" i="0" lang="en-US" sz="12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用例三～五需確認每個實際畫面究竟屬於哪一個舊系統模組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8"/>
          <p:cNvSpPr/>
          <p:nvPr/>
        </p:nvSpPr>
        <p:spPr>
          <a:xfrm>
            <a:off x="548640" y="363016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8"/>
          <p:cNvSpPr/>
          <p:nvPr/>
        </p:nvSpPr>
        <p:spPr>
          <a:xfrm>
            <a:off x="548640" y="36301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8"/>
          <p:cNvSpPr/>
          <p:nvPr/>
        </p:nvSpPr>
        <p:spPr>
          <a:xfrm>
            <a:off x="1207008" y="3584448"/>
            <a:ext cx="1043604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Microsoft JhengHe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保證金處理（用例一）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8"/>
          <p:cNvSpPr/>
          <p:nvPr/>
        </p:nvSpPr>
        <p:spPr>
          <a:xfrm>
            <a:off x="1207008" y="3941064"/>
            <a:ext cx="10436047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Microsoft JhengHei"/>
              <a:buNone/>
            </a:pPr>
            <a:r>
              <a:rPr b="0" i="0" lang="en-US" sz="12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現金保證金／擔保品是否該與手續費共用同一條 Charge Component Suspense 橋接，或建模為獨立直接存款過帳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8"/>
          <p:cNvSpPr/>
          <p:nvPr/>
        </p:nvSpPr>
        <p:spPr>
          <a:xfrm>
            <a:off x="548640" y="459028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8"/>
          <p:cNvSpPr/>
          <p:nvPr/>
        </p:nvSpPr>
        <p:spPr>
          <a:xfrm>
            <a:off x="548640" y="45902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8"/>
          <p:cNvSpPr/>
          <p:nvPr/>
        </p:nvSpPr>
        <p:spPr>
          <a:xfrm>
            <a:off x="1207008" y="4544568"/>
            <a:ext cx="1043604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Microsoft JhengHe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sourceComponent 歸屬（用例四）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8"/>
          <p:cNvSpPr/>
          <p:nvPr/>
        </p:nvSpPr>
        <p:spPr>
          <a:xfrm>
            <a:off x="1207008" y="4901184"/>
            <a:ext cx="10436047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Microsoft JhengHei"/>
              <a:buNone/>
            </a:pPr>
            <a:r>
              <a:rPr b="0" i="0" lang="en-US" sz="12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押匯型貼現／利息費用歸屬 Charge 或 Balance Component — 純稽核用途，但仍値得釐清楚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8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Payment Component — 提案業務用例（中文版）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8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9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Microsoft JhengHe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跨用例待確認事項彙整（2/2）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9"/>
          <p:cNvSpPr/>
          <p:nvPr/>
        </p:nvSpPr>
        <p:spPr>
          <a:xfrm>
            <a:off x="548640" y="1709928"/>
            <a:ext cx="457200" cy="457200"/>
          </a:xfrm>
          <a:prstGeom prst="ellipse">
            <a:avLst/>
          </a:prstGeom>
          <a:solidFill>
            <a:srgbClr val="AD3B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9"/>
          <p:cNvSpPr/>
          <p:nvPr/>
        </p:nvSpPr>
        <p:spPr>
          <a:xfrm>
            <a:off x="548640" y="17099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9"/>
          <p:cNvSpPr/>
          <p:nvPr/>
        </p:nvSpPr>
        <p:spPr>
          <a:xfrm>
            <a:off x="1207008" y="1664208"/>
            <a:ext cx="1043604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Microsoft JhengHe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尚無迴歸測試或 FSD 引用出處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9"/>
          <p:cNvSpPr/>
          <p:nvPr/>
        </p:nvSpPr>
        <p:spPr>
          <a:xfrm>
            <a:off x="1207008" y="2020824"/>
            <a:ext cx="10436047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Microsoft JhengHei"/>
              <a:buNone/>
            </a:pPr>
            <a:r>
              <a:rPr b="0" i="0" lang="en-US" sz="12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五個主要用例均尚未經端對端驗證；建議先對實際運行中的微服務執行請求驗證，再加入登錄案例並補上正式引用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9"/>
          <p:cNvSpPr/>
          <p:nvPr/>
        </p:nvSpPr>
        <p:spPr>
          <a:xfrm>
            <a:off x="548640" y="308152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9"/>
          <p:cNvSpPr/>
          <p:nvPr/>
        </p:nvSpPr>
        <p:spPr>
          <a:xfrm>
            <a:off x="548640" y="30815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9"/>
          <p:cNvSpPr/>
          <p:nvPr/>
        </p:nvSpPr>
        <p:spPr>
          <a:xfrm>
            <a:off x="1207008" y="3035808"/>
            <a:ext cx="1043604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Microsoft JhengHe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同一側多筆 CUSTOMER 分錄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9"/>
          <p:cNvSpPr/>
          <p:nvPr/>
        </p:nvSpPr>
        <p:spPr>
          <a:xfrm>
            <a:off x="1207008" y="3392424"/>
            <a:ext cx="10436047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Microsoft JhengHei"/>
              <a:buNone/>
            </a:pPr>
            <a:r>
              <a:rPr b="0" i="0" lang="en-US" sz="12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不需新伺服器能力，只需登錄案例預設值支援多筆（debitLegs／creditLegs 本來就是陣列）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9"/>
          <p:cNvSpPr/>
          <p:nvPr/>
        </p:nvSpPr>
        <p:spPr>
          <a:xfrm>
            <a:off x="548640" y="445312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9"/>
          <p:cNvSpPr/>
          <p:nvPr/>
        </p:nvSpPr>
        <p:spPr>
          <a:xfrm>
            <a:off x="548640" y="44531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9"/>
          <p:cNvSpPr/>
          <p:nvPr/>
        </p:nvSpPr>
        <p:spPr>
          <a:xfrm>
            <a:off x="1207008" y="4407408"/>
            <a:ext cx="1043604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Microsoft JhengHe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多幣別 CA 分錄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9"/>
          <p:cNvSpPr/>
          <p:nvPr/>
        </p:nvSpPr>
        <p:spPr>
          <a:xfrm>
            <a:off x="1207008" y="4764024"/>
            <a:ext cx="10436047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Microsoft JhengHei"/>
              <a:buNone/>
            </a:pPr>
            <a:r>
              <a:rPr b="0" i="0" lang="en-US" sz="12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不觸發 suspenseBridge FX 機制，但需確保各幣別小數位數（H-2）正確（例如 JPY 為 0 位、KWD 為 3 位，而非 EUR 的 2 位）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9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Payment Component — 提案業務用例（中文版）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9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Microsoft JhengHe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可追溯性對照表（1/2）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5" name="Google Shape;435;p20"/>
          <p:cNvGraphicFramePr/>
          <p:nvPr/>
        </p:nvGraphicFramePr>
        <p:xfrm>
          <a:off x="54864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{62652F52-85CA-4B05-B4E7-E00F1EA63B1F}</a:tableStyleId>
              </a:tblPr>
              <a:tblGrid>
                <a:gridCol w="2377450"/>
                <a:gridCol w="8716975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icrosoft JhengHe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用例</a:t>
                      </a:r>
                      <a:endParaRPr sz="11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icrosoft JhengHe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依據來源</a:t>
                      </a:r>
                      <a:endParaRPr sz="11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050"/>
                        <a:buFont typeface="Microsoft JhengHe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F3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1（手續費／保證金）</a:t>
                      </a:r>
                      <a:endParaRPr sz="10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050"/>
                        <a:buFont typeface="Microsoft JhengHe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F3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CLAUDE.md 「Charge ↔ Payment 邊界」；README 「擴充情境 A」</a:t>
                      </a:r>
                      <a:endParaRPr sz="10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050"/>
                        <a:buFont typeface="Microsoft JhengHe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F3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1a（多筆 Dr CA）</a:t>
                      </a:r>
                      <a:endParaRPr sz="10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050"/>
                        <a:buFont typeface="Microsoft JhengHe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F3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同用例一，拆分為兩筆 CUSTOMER 借方分錄</a:t>
                      </a:r>
                      <a:endParaRPr sz="10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050"/>
                        <a:buFont typeface="Microsoft JhengHe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F3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1b（多筆 Dr CA，多幣別）</a:t>
                      </a:r>
                      <a:endParaRPr sz="10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050"/>
                        <a:buFont typeface="Microsoft JhengHe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F3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與 1a 相同，其中一筆改以 EUR 計價</a:t>
                      </a:r>
                      <a:endParaRPr sz="10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050"/>
                        <a:buFont typeface="Microsoft JhengHe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F3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2A（即期結算）</a:t>
                      </a:r>
                      <a:endParaRPr sz="10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050"/>
                        <a:buFont typeface="Microsoft JhengHe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F3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business-case-registry.ts 的 iplc-pay-accept</a:t>
                      </a:r>
                      <a:endParaRPr sz="10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050"/>
                        <a:buFont typeface="Microsoft JhengHe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F3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2A-1（多筆 Dr CA）</a:t>
                      </a:r>
                      <a:endParaRPr sz="10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050"/>
                        <a:buFont typeface="Microsoft JhengHe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F3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同 2A，拆分為兩筆 CUSTOMER 借方分錄</a:t>
                      </a:r>
                      <a:endParaRPr sz="10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050"/>
                        <a:buFont typeface="Microsoft JhengHe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F3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2A-2（多筆 Dr CA，多幣別）</a:t>
                      </a:r>
                      <a:endParaRPr sz="10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050"/>
                        <a:buFont typeface="Microsoft JhengHe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F3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與 2A-1 相同，其中一筆改以 EUR 計價</a:t>
                      </a:r>
                      <a:endParaRPr sz="10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050"/>
                        <a:buFont typeface="Microsoft JhengHe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F3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2B（遠期 Takedown／Repayment）</a:t>
                      </a:r>
                      <a:endParaRPr sz="10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050"/>
                        <a:buFont typeface="Microsoft JhengHe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F3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README「擴充情境 B/C」</a:t>
                      </a:r>
                      <a:endParaRPr sz="10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050"/>
                        <a:buFont typeface="Microsoft JhengHe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F3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2B-1（多筆 Dr CA）</a:t>
                      </a:r>
                      <a:endParaRPr sz="10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050"/>
                        <a:buFont typeface="Microsoft JhengHe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F3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同 2B 步驟二，拆分為共同申請人分錄</a:t>
                      </a:r>
                      <a:endParaRPr sz="10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436" name="Google Shape;436;p20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Payment Component — 提案業務用例（中文版）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0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1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Microsoft JhengHe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可追溯性對照表（2/2）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4" name="Google Shape;444;p21"/>
          <p:cNvGraphicFramePr/>
          <p:nvPr/>
        </p:nvGraphicFramePr>
        <p:xfrm>
          <a:off x="54864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{62652F52-85CA-4B05-B4E7-E00F1EA63B1F}</a:tableStyleId>
              </a:tblPr>
              <a:tblGrid>
                <a:gridCol w="2377450"/>
                <a:gridCol w="8716975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icrosoft JhengHe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用例</a:t>
                      </a:r>
                      <a:endParaRPr sz="11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icrosoft JhengHe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依據來源</a:t>
                      </a:r>
                      <a:endParaRPr sz="11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050"/>
                        <a:buFont typeface="Microsoft JhengHe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F3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2B-2（多筆 Dr CA，多幣別）</a:t>
                      </a:r>
                      <a:endParaRPr sz="10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050"/>
                        <a:buFont typeface="Microsoft JhengHe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F3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與 2B-1 相同，共同申請人 B 改以 EUR 計價</a:t>
                      </a:r>
                      <a:endParaRPr sz="10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050"/>
                        <a:buFont typeface="Microsoft JhengHe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F3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3（出口即期）</a:t>
                      </a:r>
                      <a:endParaRPr sz="10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050"/>
                        <a:buFont typeface="Microsoft JhengHe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F3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business-case-registry.ts 的 exco-payment</a:t>
                      </a:r>
                      <a:endParaRPr sz="10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050"/>
                        <a:buFont typeface="Microsoft JhengHe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F3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3a（多筆 Cr CA）</a:t>
                      </a:r>
                      <a:endParaRPr sz="10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050"/>
                        <a:buFont typeface="Microsoft JhengHe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F3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同用例三，拆分為兩筆 CUSTOMER 貸方分錄</a:t>
                      </a:r>
                      <a:endParaRPr sz="10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050"/>
                        <a:buFont typeface="Microsoft JhengHe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F3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3b（多筆 Cr CA，多幣別）</a:t>
                      </a:r>
                      <a:endParaRPr sz="10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050"/>
                        <a:buFont typeface="Microsoft JhengHe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F3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與 3a 相同，貸款還款分錄改以 EUR 計價</a:t>
                      </a:r>
                      <a:endParaRPr sz="10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050"/>
                        <a:buFont typeface="Microsoft JhengHe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F3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4（出口押匯／EBL）</a:t>
                      </a:r>
                      <a:endParaRPr sz="10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050"/>
                        <a:buFont typeface="Microsoft JhengHe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F3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README「擴充情境 B」（調整版）；eplc-discount（已標註衝突）</a:t>
                      </a:r>
                      <a:endParaRPr sz="10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050"/>
                        <a:buFont typeface="Microsoft JhengHe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F3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4a（多筆 Cr CA）</a:t>
                      </a:r>
                      <a:endParaRPr sz="10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050"/>
                        <a:buFont typeface="Microsoft JhengHe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F3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同用例四，拆分為兩筆 CUSTOMER 貸方分錄</a:t>
                      </a:r>
                      <a:endParaRPr sz="10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050"/>
                        <a:buFont typeface="Microsoft JhengHe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F3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4b（多筆 Cr CA，多幣別）</a:t>
                      </a:r>
                      <a:endParaRPr sz="10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050"/>
                        <a:buFont typeface="Microsoft JhengHe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F3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與 4a 相同，貸款還款分錄改以 EUR 計價</a:t>
                      </a:r>
                      <a:endParaRPr sz="10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050"/>
                        <a:buFont typeface="Microsoft JhengHe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F3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5（出口 EBL 償付）</a:t>
                      </a:r>
                      <a:endParaRPr sz="10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050"/>
                        <a:buFont typeface="Microsoft JhengHe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F3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README「擴充情境 C」（調整版，尚未獨立確認的通則化）</a:t>
                      </a:r>
                      <a:endParaRPr sz="10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445" name="Google Shape;445;p21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Payment Component — 提案業務用例（中文版）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1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2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Microsoft JhengHe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建議後續步驟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2"/>
          <p:cNvSpPr/>
          <p:nvPr/>
        </p:nvSpPr>
        <p:spPr>
          <a:xfrm>
            <a:off x="548640" y="170992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2"/>
          <p:cNvSpPr/>
          <p:nvPr/>
        </p:nvSpPr>
        <p:spPr>
          <a:xfrm>
            <a:off x="548640" y="17099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2"/>
          <p:cNvSpPr/>
          <p:nvPr/>
        </p:nvSpPr>
        <p:spPr>
          <a:xfrm>
            <a:off x="1207008" y="1664208"/>
            <a:ext cx="1043604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Microsoft JhengHe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查閱憑證前綴對照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2"/>
          <p:cNvSpPr/>
          <p:nvPr/>
        </p:nvSpPr>
        <p:spPr>
          <a:xfrm>
            <a:off x="1207008" y="2020824"/>
            <a:ext cx="10436047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Microsoft JhengHei"/>
              <a:buNone/>
            </a:pPr>
            <a:r>
              <a:rPr b="0" i="0" lang="en-US" sz="12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查閱 Payment_Mapping_Functions.docx §6，確認 5 個新提議 sourceFunctionCode 的憑證代碼前綴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2"/>
          <p:cNvSpPr/>
          <p:nvPr/>
        </p:nvSpPr>
        <p:spPr>
          <a:xfrm>
            <a:off x="548640" y="267004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2"/>
          <p:cNvSpPr/>
          <p:nvPr/>
        </p:nvSpPr>
        <p:spPr>
          <a:xfrm>
            <a:off x="548640" y="2670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2"/>
          <p:cNvSpPr/>
          <p:nvPr/>
        </p:nvSpPr>
        <p:spPr>
          <a:xfrm>
            <a:off x="1207008" y="2624328"/>
            <a:ext cx="1043604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Microsoft JhengHe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業務確認關鍵決策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2"/>
          <p:cNvSpPr/>
          <p:nvPr/>
        </p:nvSpPr>
        <p:spPr>
          <a:xfrm>
            <a:off x="1207008" y="2980944"/>
            <a:ext cx="10436047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Microsoft JhengHei"/>
              <a:buNone/>
            </a:pPr>
            <a:r>
              <a:rPr b="0" i="0" lang="en-US" sz="12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確認 EPLC／EXCO 模組歸屬、保證金處理方式、sourceComponent 歸屬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2"/>
          <p:cNvSpPr/>
          <p:nvPr/>
        </p:nvSpPr>
        <p:spPr>
          <a:xfrm>
            <a:off x="548640" y="363016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2"/>
          <p:cNvSpPr/>
          <p:nvPr/>
        </p:nvSpPr>
        <p:spPr>
          <a:xfrm>
            <a:off x="548640" y="36301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2"/>
          <p:cNvSpPr/>
          <p:nvPr/>
        </p:nvSpPr>
        <p:spPr>
          <a:xfrm>
            <a:off x="1207008" y="3584448"/>
            <a:ext cx="1043604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Microsoft JhengHe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實際呼叫驗證配平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2"/>
          <p:cNvSpPr/>
          <p:nvPr/>
        </p:nvSpPr>
        <p:spPr>
          <a:xfrm>
            <a:off x="1207008" y="3941064"/>
            <a:ext cx="10436047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Microsoft JhengHei"/>
              <a:buNone/>
            </a:pPr>
            <a:r>
              <a:rPr b="0" i="0" lang="en-US" sz="12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針對每個用例，於本機執行中的微服務執行 POST /payment-instructions 驗證配平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2"/>
          <p:cNvSpPr/>
          <p:nvPr/>
        </p:nvSpPr>
        <p:spPr>
          <a:xfrm>
            <a:off x="548640" y="459028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2"/>
          <p:cNvSpPr/>
          <p:nvPr/>
        </p:nvSpPr>
        <p:spPr>
          <a:xfrm>
            <a:off x="548640" y="45902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2"/>
          <p:cNvSpPr/>
          <p:nvPr/>
        </p:nvSpPr>
        <p:spPr>
          <a:xfrm>
            <a:off x="1207008" y="4544568"/>
            <a:ext cx="1043604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Microsoft JhengHe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登錄至 business-case-registry.ts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2"/>
          <p:cNvSpPr/>
          <p:nvPr/>
        </p:nvSpPr>
        <p:spPr>
          <a:xfrm>
            <a:off x="1207008" y="4901184"/>
            <a:ext cx="10436047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Microsoft JhengHei"/>
              <a:buNone/>
            </a:pPr>
            <a:r>
              <a:rPr b="0" i="0" lang="en-US" sz="1250" u="none" cap="none" strike="noStrike">
                <a:solidFill>
                  <a:srgbClr val="1B1F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確認後，將案例與子用例登錄並補上正式引用出處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2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Payment Component — 提案業務用例（中文版）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2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47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3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E2761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3"/>
          <p:cNvSpPr/>
          <p:nvPr/>
        </p:nvSpPr>
        <p:spPr>
          <a:xfrm>
            <a:off x="-1645920" y="4480560"/>
            <a:ext cx="3840480" cy="3840480"/>
          </a:xfrm>
          <a:prstGeom prst="ellipse">
            <a:avLst/>
          </a:prstGeom>
          <a:solidFill>
            <a:srgbClr val="1E276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3"/>
          <p:cNvSpPr/>
          <p:nvPr/>
        </p:nvSpPr>
        <p:spPr>
          <a:xfrm>
            <a:off x="548640" y="2743200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icrosoft JhengHe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討論與指教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3"/>
          <p:cNvSpPr/>
          <p:nvPr/>
        </p:nvSpPr>
        <p:spPr>
          <a:xfrm>
            <a:off x="548640" y="352044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4DA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9FB4D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完整技術細節（含 JSON 請求範例）請參閱 Payment-Component-Proposed-Use-Cases-zh.md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3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C7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8FA3C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Payment Component — 提案業務用例（中文版）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3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3C7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8FA3C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